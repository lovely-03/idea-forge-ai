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83" r:id="rId2"/>
    <p:sldId id="257" r:id="rId3"/>
    <p:sldId id="282" r:id="rId4"/>
    <p:sldId id="285" r:id="rId5"/>
    <p:sldId id="278" r:id="rId6"/>
    <p:sldId id="281" r:id="rId7"/>
    <p:sldId id="279" r:id="rId8"/>
    <p:sldId id="291" r:id="rId9"/>
    <p:sldId id="262" r:id="rId10"/>
    <p:sldId id="277" r:id="rId11"/>
    <p:sldId id="264" r:id="rId12"/>
    <p:sldId id="290" r:id="rId13"/>
    <p:sldId id="292" r:id="rId14"/>
    <p:sldId id="293" r:id="rId15"/>
    <p:sldId id="286" r:id="rId16"/>
    <p:sldId id="287" r:id="rId17"/>
    <p:sldId id="280" r:id="rId18"/>
    <p:sldId id="288" r:id="rId19"/>
    <p:sldId id="289" r:id="rId20"/>
    <p:sldId id="276"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B7755F6-6161-45BA-8A63-7A022A3BB895}" v="1" dt="2026-07-14T05:04:53.458"/>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4364" autoAdjust="0"/>
  </p:normalViewPr>
  <p:slideViewPr>
    <p:cSldViewPr snapToGrid="0">
      <p:cViewPr>
        <p:scale>
          <a:sx n="75" d="100"/>
          <a:sy n="75" d="100"/>
        </p:scale>
        <p:origin x="516"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man Shrivastava" userId="S::ashrivastava@edunetfoundation.org::c21995ab-fa37-4cde-b5a3-dec0fb9e9a10" providerId="AD" clId="Web-{088AD18C-7811-B1E2-9ED5-57A1A5542DF6}"/>
    <pc:docChg chg="addSld delSld modSld sldOrd">
      <pc:chgData name="Aman Shrivastava" userId="S::ashrivastava@edunetfoundation.org::c21995ab-fa37-4cde-b5a3-dec0fb9e9a10" providerId="AD" clId="Web-{088AD18C-7811-B1E2-9ED5-57A1A5542DF6}" dt="2026-06-19T06:28:44.546" v="262"/>
      <pc:docMkLst>
        <pc:docMk/>
      </pc:docMkLst>
      <pc:sldChg chg="addSp delSp modSp">
        <pc:chgData name="Aman Shrivastava" userId="S::ashrivastava@edunetfoundation.org::c21995ab-fa37-4cde-b5a3-dec0fb9e9a10" providerId="AD" clId="Web-{088AD18C-7811-B1E2-9ED5-57A1A5542DF6}" dt="2026-06-19T06:24:33.481" v="246"/>
        <pc:sldMkLst>
          <pc:docMk/>
          <pc:sldMk cId="0" sldId="257"/>
        </pc:sldMkLst>
        <pc:spChg chg="add mod">
          <ac:chgData name="Aman Shrivastava" userId="S::ashrivastava@edunetfoundation.org::c21995ab-fa37-4cde-b5a3-dec0fb9e9a10" providerId="AD" clId="Web-{088AD18C-7811-B1E2-9ED5-57A1A5542DF6}" dt="2026-06-19T06:23:34.731" v="211" actId="20577"/>
          <ac:spMkLst>
            <pc:docMk/>
            <pc:sldMk cId="0" sldId="257"/>
            <ac:spMk id="3" creationId="{B0B023FA-CFEB-ACE9-8425-7E72E307CDC5}"/>
          </ac:spMkLst>
        </pc:spChg>
      </pc:sldChg>
      <pc:sldChg chg="addSp delSp modSp">
        <pc:chgData name="Aman Shrivastava" userId="S::ashrivastava@edunetfoundation.org::c21995ab-fa37-4cde-b5a3-dec0fb9e9a10" providerId="AD" clId="Web-{088AD18C-7811-B1E2-9ED5-57A1A5542DF6}" dt="2026-06-19T06:15:34.945" v="78" actId="1076"/>
        <pc:sldMkLst>
          <pc:docMk/>
          <pc:sldMk cId="0" sldId="262"/>
        </pc:sldMkLst>
        <pc:picChg chg="add mod">
          <ac:chgData name="Aman Shrivastava" userId="S::ashrivastava@edunetfoundation.org::c21995ab-fa37-4cde-b5a3-dec0fb9e9a10" providerId="AD" clId="Web-{088AD18C-7811-B1E2-9ED5-57A1A5542DF6}" dt="2026-06-19T06:15:34.945" v="78" actId="1076"/>
          <ac:picMkLst>
            <pc:docMk/>
            <pc:sldMk cId="0" sldId="262"/>
            <ac:picMk id="3" creationId="{81932CE2-F219-0CA8-0102-55B8C682B8A2}"/>
          </ac:picMkLst>
        </pc:picChg>
      </pc:sldChg>
      <pc:sldChg chg="addSp delSp modSp">
        <pc:chgData name="Aman Shrivastava" userId="S::ashrivastava@edunetfoundation.org::c21995ab-fa37-4cde-b5a3-dec0fb9e9a10" providerId="AD" clId="Web-{088AD18C-7811-B1E2-9ED5-57A1A5542DF6}" dt="2026-06-19T06:25:36.169" v="257" actId="20577"/>
        <pc:sldMkLst>
          <pc:docMk/>
          <pc:sldMk cId="2115484872" sldId="277"/>
        </pc:sldMkLst>
        <pc:spChg chg="add mod">
          <ac:chgData name="Aman Shrivastava" userId="S::ashrivastava@edunetfoundation.org::c21995ab-fa37-4cde-b5a3-dec0fb9e9a10" providerId="AD" clId="Web-{088AD18C-7811-B1E2-9ED5-57A1A5542DF6}" dt="2026-06-19T06:25:32.075" v="255" actId="20577"/>
          <ac:spMkLst>
            <pc:docMk/>
            <pc:sldMk cId="2115484872" sldId="277"/>
            <ac:spMk id="14" creationId="{7B8E599E-5B1D-59CD-4F1D-CEF8D0CA327B}"/>
          </ac:spMkLst>
        </pc:spChg>
        <pc:spChg chg="add mod">
          <ac:chgData name="Aman Shrivastava" userId="S::ashrivastava@edunetfoundation.org::c21995ab-fa37-4cde-b5a3-dec0fb9e9a10" providerId="AD" clId="Web-{088AD18C-7811-B1E2-9ED5-57A1A5542DF6}" dt="2026-06-19T06:25:36.169" v="257" actId="20577"/>
          <ac:spMkLst>
            <pc:docMk/>
            <pc:sldMk cId="2115484872" sldId="277"/>
            <ac:spMk id="15" creationId="{B22EA981-5113-2D05-C1A2-169306E1D47C}"/>
          </ac:spMkLst>
        </pc:spChg>
        <pc:picChg chg="add mod">
          <ac:chgData name="Aman Shrivastava" userId="S::ashrivastava@edunetfoundation.org::c21995ab-fa37-4cde-b5a3-dec0fb9e9a10" providerId="AD" clId="Web-{088AD18C-7811-B1E2-9ED5-57A1A5542DF6}" dt="2026-06-19T06:25:26.403" v="253" actId="1076"/>
          <ac:picMkLst>
            <pc:docMk/>
            <pc:sldMk cId="2115484872" sldId="277"/>
            <ac:picMk id="12" creationId="{3E29AF1D-88C4-87E5-74DF-4E97121E06CE}"/>
          </ac:picMkLst>
        </pc:picChg>
        <pc:picChg chg="add mod">
          <ac:chgData name="Aman Shrivastava" userId="S::ashrivastava@edunetfoundation.org::c21995ab-fa37-4cde-b5a3-dec0fb9e9a10" providerId="AD" clId="Web-{088AD18C-7811-B1E2-9ED5-57A1A5542DF6}" dt="2026-06-19T06:25:26.403" v="254" actId="1076"/>
          <ac:picMkLst>
            <pc:docMk/>
            <pc:sldMk cId="2115484872" sldId="277"/>
            <ac:picMk id="13" creationId="{C81444F5-0692-DD67-1759-70821E53B029}"/>
          </ac:picMkLst>
        </pc:picChg>
      </pc:sldChg>
      <pc:sldChg chg="addSp delSp modSp add del ord">
        <pc:chgData name="Aman Shrivastava" userId="S::ashrivastava@edunetfoundation.org::c21995ab-fa37-4cde-b5a3-dec0fb9e9a10" providerId="AD" clId="Web-{088AD18C-7811-B1E2-9ED5-57A1A5542DF6}" dt="2026-06-19T06:28:44.546" v="262"/>
        <pc:sldMkLst>
          <pc:docMk/>
          <pc:sldMk cId="3764405840" sldId="278"/>
        </pc:sldMkLst>
        <pc:spChg chg="add del mod">
          <ac:chgData name="Aman Shrivastava" userId="S::ashrivastava@edunetfoundation.org::c21995ab-fa37-4cde-b5a3-dec0fb9e9a10" providerId="AD" clId="Web-{088AD18C-7811-B1E2-9ED5-57A1A5542DF6}" dt="2026-06-19T06:06:19.065" v="68" actId="20577"/>
          <ac:spMkLst>
            <pc:docMk/>
            <pc:sldMk cId="3764405840" sldId="278"/>
            <ac:spMk id="2" creationId="{151FBD4A-3273-E454-091D-D5B0678FC299}"/>
          </ac:spMkLst>
        </pc:spChg>
      </pc:sldChg>
      <pc:sldChg chg="addSp delSp modSp">
        <pc:chgData name="Aman Shrivastava" userId="S::ashrivastava@edunetfoundation.org::c21995ab-fa37-4cde-b5a3-dec0fb9e9a10" providerId="AD" clId="Web-{088AD18C-7811-B1E2-9ED5-57A1A5542DF6}" dt="2026-06-19T06:11:15.349" v="75" actId="1076"/>
        <pc:sldMkLst>
          <pc:docMk/>
          <pc:sldMk cId="2772501912" sldId="279"/>
        </pc:sldMkLst>
      </pc:sldChg>
      <pc:sldChg chg="addSp delSp ord">
        <pc:chgData name="Aman Shrivastava" userId="S::ashrivastava@edunetfoundation.org::c21995ab-fa37-4cde-b5a3-dec0fb9e9a10" providerId="AD" clId="Web-{088AD18C-7811-B1E2-9ED5-57A1A5542DF6}" dt="2026-06-19T06:27:30.076" v="259"/>
        <pc:sldMkLst>
          <pc:docMk/>
          <pc:sldMk cId="2605851928" sldId="287"/>
        </pc:sldMkLst>
      </pc:sldChg>
      <pc:sldChg chg="addSp delSp modSp new">
        <pc:chgData name="Aman Shrivastava" userId="S::ashrivastava@edunetfoundation.org::c21995ab-fa37-4cde-b5a3-dec0fb9e9a10" providerId="AD" clId="Web-{088AD18C-7811-B1E2-9ED5-57A1A5542DF6}" dt="2026-06-19T05:49:31.148" v="36" actId="20577"/>
        <pc:sldMkLst>
          <pc:docMk/>
          <pc:sldMk cId="1229047658" sldId="288"/>
        </pc:sldMkLst>
        <pc:spChg chg="add mod">
          <ac:chgData name="Aman Shrivastava" userId="S::ashrivastava@edunetfoundation.org::c21995ab-fa37-4cde-b5a3-dec0fb9e9a10" providerId="AD" clId="Web-{088AD18C-7811-B1E2-9ED5-57A1A5542DF6}" dt="2026-06-19T05:49:31.148" v="36" actId="20577"/>
          <ac:spMkLst>
            <pc:docMk/>
            <pc:sldMk cId="1229047658" sldId="288"/>
            <ac:spMk id="6" creationId="{3F1C7BCA-5DD7-F4D3-A937-D1C56976DA01}"/>
          </ac:spMkLst>
        </pc:spChg>
      </pc:sldChg>
    </pc:docChg>
  </pc:docChgLst>
  <pc:docChgLst>
    <pc:chgData name="Aswini Kumar Motapothula" userId="S::aswinikumar@edunetfoundation.org::8849ae8d-bc89-4217-899c-9440ffcae5bb" providerId="AD" clId="Web-{0037A25B-DA5D-A37C-3B36-7F0977405ABF}"/>
    <pc:docChg chg="addSld modSld">
      <pc:chgData name="Aswini Kumar Motapothula" userId="S::aswinikumar@edunetfoundation.org::8849ae8d-bc89-4217-899c-9440ffcae5bb" providerId="AD" clId="Web-{0037A25B-DA5D-A37C-3B36-7F0977405ABF}" dt="2026-06-19T05:59:39.887" v="95" actId="20577"/>
      <pc:docMkLst>
        <pc:docMk/>
      </pc:docMkLst>
      <pc:sldChg chg="addSp delSp modSp">
        <pc:chgData name="Aswini Kumar Motapothula" userId="S::aswinikumar@edunetfoundation.org::8849ae8d-bc89-4217-899c-9440ffcae5bb" providerId="AD" clId="Web-{0037A25B-DA5D-A37C-3B36-7F0977405ABF}" dt="2026-06-19T05:59:39.887" v="95" actId="20577"/>
        <pc:sldMkLst>
          <pc:docMk/>
          <pc:sldMk cId="1229047658" sldId="288"/>
        </pc:sldMkLst>
        <pc:spChg chg="add mod">
          <ac:chgData name="Aswini Kumar Motapothula" userId="S::aswinikumar@edunetfoundation.org::8849ae8d-bc89-4217-899c-9440ffcae5bb" providerId="AD" clId="Web-{0037A25B-DA5D-A37C-3B36-7F0977405ABF}" dt="2026-06-19T05:59:39.887" v="95" actId="20577"/>
          <ac:spMkLst>
            <pc:docMk/>
            <pc:sldMk cId="1229047658" sldId="288"/>
            <ac:spMk id="3" creationId="{4837D5EE-379B-FDC5-0854-8AC81D31FADF}"/>
          </ac:spMkLst>
        </pc:spChg>
      </pc:sldChg>
      <pc:sldChg chg="addSp delSp modSp new">
        <pc:chgData name="Aswini Kumar Motapothula" userId="S::aswinikumar@edunetfoundation.org::8849ae8d-bc89-4217-899c-9440ffcae5bb" providerId="AD" clId="Web-{0037A25B-DA5D-A37C-3B36-7F0977405ABF}" dt="2026-06-19T05:55:38.278" v="91" actId="1076"/>
        <pc:sldMkLst>
          <pc:docMk/>
          <pc:sldMk cId="2506610743" sldId="289"/>
        </pc:sldMkLst>
        <pc:spChg chg="add mod">
          <ac:chgData name="Aswini Kumar Motapothula" userId="S::aswinikumar@edunetfoundation.org::8849ae8d-bc89-4217-899c-9440ffcae5bb" providerId="AD" clId="Web-{0037A25B-DA5D-A37C-3B36-7F0977405ABF}" dt="2026-06-19T05:54:43.950" v="57" actId="1076"/>
          <ac:spMkLst>
            <pc:docMk/>
            <pc:sldMk cId="2506610743" sldId="289"/>
            <ac:spMk id="5" creationId="{CA8544A9-CF92-3FAF-D3EE-31DF90F7A64D}"/>
          </ac:spMkLst>
        </pc:spChg>
        <pc:spChg chg="add mod">
          <ac:chgData name="Aswini Kumar Motapothula" userId="S::aswinikumar@edunetfoundation.org::8849ae8d-bc89-4217-899c-9440ffcae5bb" providerId="AD" clId="Web-{0037A25B-DA5D-A37C-3B36-7F0977405ABF}" dt="2026-06-19T05:55:27.278" v="87" actId="20577"/>
          <ac:spMkLst>
            <pc:docMk/>
            <pc:sldMk cId="2506610743" sldId="289"/>
            <ac:spMk id="6" creationId="{C0D36B1A-26C2-CD55-1032-4CB5E4EDF305}"/>
          </ac:spMkLst>
        </pc:spChg>
        <pc:picChg chg="add mod modCrop">
          <ac:chgData name="Aswini Kumar Motapothula" userId="S::aswinikumar@edunetfoundation.org::8849ae8d-bc89-4217-899c-9440ffcae5bb" providerId="AD" clId="Web-{0037A25B-DA5D-A37C-3B36-7F0977405ABF}" dt="2026-06-19T05:55:38.278" v="91" actId="1076"/>
          <ac:picMkLst>
            <pc:docMk/>
            <pc:sldMk cId="2506610743" sldId="289"/>
            <ac:picMk id="4" creationId="{099C3698-991D-7A38-C456-893C84C23FC9}"/>
          </ac:picMkLst>
        </pc:picChg>
      </pc:sldChg>
    </pc:docChg>
  </pc:docChgLst>
  <pc:docChgLst>
    <pc:chgData name="Drishti" userId="1562d6fa-893e-4949-8e31-e1be6aac81db" providerId="ADAL" clId="{6D4A2697-E1D7-4D9D-AFF0-FB5F1305AA28}"/>
    <pc:docChg chg="custSel modSld">
      <pc:chgData name="Drishti" userId="1562d6fa-893e-4949-8e31-e1be6aac81db" providerId="ADAL" clId="{6D4A2697-E1D7-4D9D-AFF0-FB5F1305AA28}" dt="2026-07-14T05:22:52.599" v="18" actId="14100"/>
      <pc:docMkLst>
        <pc:docMk/>
      </pc:docMkLst>
      <pc:sldChg chg="addSp delSp modSp mod">
        <pc:chgData name="Drishti" userId="1562d6fa-893e-4949-8e31-e1be6aac81db" providerId="ADAL" clId="{6D4A2697-E1D7-4D9D-AFF0-FB5F1305AA28}" dt="2026-07-14T05:22:52.599" v="18" actId="14100"/>
        <pc:sldMkLst>
          <pc:docMk/>
          <pc:sldMk cId="1229047658" sldId="288"/>
        </pc:sldMkLst>
        <pc:spChg chg="mod">
          <ac:chgData name="Drishti" userId="1562d6fa-893e-4949-8e31-e1be6aac81db" providerId="ADAL" clId="{6D4A2697-E1D7-4D9D-AFF0-FB5F1305AA28}" dt="2026-07-14T05:06:32.623" v="7" actId="1076"/>
          <ac:spMkLst>
            <pc:docMk/>
            <pc:sldMk cId="1229047658" sldId="288"/>
            <ac:spMk id="3" creationId="{4837D5EE-379B-FDC5-0854-8AC81D31FADF}"/>
          </ac:spMkLst>
        </pc:spChg>
        <pc:spChg chg="mod">
          <ac:chgData name="Drishti" userId="1562d6fa-893e-4949-8e31-e1be6aac81db" providerId="ADAL" clId="{6D4A2697-E1D7-4D9D-AFF0-FB5F1305AA28}" dt="2026-07-14T05:06:29.018" v="6" actId="1076"/>
          <ac:spMkLst>
            <pc:docMk/>
            <pc:sldMk cId="1229047658" sldId="288"/>
            <ac:spMk id="6" creationId="{3F1C7BCA-5DD7-F4D3-A937-D1C56976DA01}"/>
          </ac:spMkLst>
        </pc:spChg>
        <pc:spChg chg="add del mod">
          <ac:chgData name="Drishti" userId="1562d6fa-893e-4949-8e31-e1be6aac81db" providerId="ADAL" clId="{6D4A2697-E1D7-4D9D-AFF0-FB5F1305AA28}" dt="2026-07-14T05:21:03.164" v="13" actId="478"/>
          <ac:spMkLst>
            <pc:docMk/>
            <pc:sldMk cId="1229047658" sldId="288"/>
            <ac:spMk id="8" creationId="{FC7C22FB-C8E4-BA28-61F8-BA4F52FBDC19}"/>
          </ac:spMkLst>
        </pc:spChg>
        <pc:graphicFrameChg chg="add del mod">
          <ac:chgData name="Drishti" userId="1562d6fa-893e-4949-8e31-e1be6aac81db" providerId="ADAL" clId="{6D4A2697-E1D7-4D9D-AFF0-FB5F1305AA28}" dt="2026-07-14T05:04:57.312" v="2" actId="478"/>
          <ac:graphicFrameMkLst>
            <pc:docMk/>
            <pc:sldMk cId="1229047658" sldId="288"/>
            <ac:graphicFrameMk id="2" creationId="{B56A5227-DB28-9083-3E33-9E75C07DB043}"/>
          </ac:graphicFrameMkLst>
        </pc:graphicFrameChg>
        <pc:picChg chg="del">
          <ac:chgData name="Drishti" userId="1562d6fa-893e-4949-8e31-e1be6aac81db" providerId="ADAL" clId="{6D4A2697-E1D7-4D9D-AFF0-FB5F1305AA28}" dt="2026-07-14T05:04:45.204" v="0" actId="478"/>
          <ac:picMkLst>
            <pc:docMk/>
            <pc:sldMk cId="1229047658" sldId="288"/>
            <ac:picMk id="4" creationId="{AD88C341-1F2F-9B6F-593F-2917E7E23DCB}"/>
          </ac:picMkLst>
        </pc:picChg>
        <pc:picChg chg="add del mod">
          <ac:chgData name="Drishti" userId="1562d6fa-893e-4949-8e31-e1be6aac81db" providerId="ADAL" clId="{6D4A2697-E1D7-4D9D-AFF0-FB5F1305AA28}" dt="2026-07-14T05:22:43.581" v="14" actId="478"/>
          <ac:picMkLst>
            <pc:docMk/>
            <pc:sldMk cId="1229047658" sldId="288"/>
            <ac:picMk id="7" creationId="{B3887577-816B-B63A-3BBE-5B6CDBCB2632}"/>
          </ac:picMkLst>
        </pc:picChg>
        <pc:picChg chg="add mod">
          <ac:chgData name="Drishti" userId="1562d6fa-893e-4949-8e31-e1be6aac81db" providerId="ADAL" clId="{6D4A2697-E1D7-4D9D-AFF0-FB5F1305AA28}" dt="2026-07-14T05:22:52.599" v="18" actId="14100"/>
          <ac:picMkLst>
            <pc:docMk/>
            <pc:sldMk cId="1229047658" sldId="288"/>
            <ac:picMk id="10" creationId="{F840091F-DA91-F01F-3558-119ADF3F30B2}"/>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8E9CB32A-B328-07DF-4F33-E0118C920B5A}"/>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BD392DC-EA03-14B5-7A53-AC36124B4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90BE8D5-07EC-73D0-0A62-4778024FF05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84207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F18774C-544B-0071-4FA9-86D0ADEC5A87}"/>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68645894-EE59-A5F4-D411-C82EB564E1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FEE489F0-0910-6D8B-0254-C25DB08827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77358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BB47F127-39C9-4CE0-52A6-66BD53AE96F2}"/>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57CB72F8-8B0E-1466-D091-917F3E7559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1CEA3A31-DD75-5F0D-19FB-8192F5E7F99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458712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r>
              <a:rPr lang="en-US" b="1"/>
              <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IBM Bob”</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517322555"/>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ctr" rtl="0">
                        <a:lnSpc>
                          <a:spcPct val="300000"/>
                        </a:lnSpc>
                        <a:spcBef>
                          <a:spcPts val="0"/>
                        </a:spcBef>
                        <a:spcAft>
                          <a:spcPts val="0"/>
                        </a:spcAft>
                        <a:buNone/>
                      </a:pPr>
                      <a:r>
                        <a:rPr lang="en-US" sz="1600" dirty="0" smtClean="0"/>
                        <a:t>Lovely Patel</a:t>
                      </a:r>
                      <a:endParaRPr sz="16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just" rtl="0">
                        <a:spcBef>
                          <a:spcPts val="0"/>
                        </a:spcBef>
                        <a:spcAft>
                          <a:spcPts val="0"/>
                        </a:spcAft>
                        <a:buNone/>
                      </a:pPr>
                      <a:r>
                        <a:rPr lang="en-US" sz="1600" dirty="0" smtClean="0"/>
                        <a:t>lovelypatel1942004@gmail.com</a:t>
                      </a:r>
                      <a:endParaRPr sz="16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ctr" rtl="0">
                        <a:spcBef>
                          <a:spcPts val="0"/>
                        </a:spcBef>
                        <a:spcAft>
                          <a:spcPts val="0"/>
                        </a:spcAft>
                        <a:buNone/>
                      </a:pPr>
                      <a:r>
                        <a:rPr lang="en-US" sz="1600" dirty="0" smtClean="0"/>
                        <a:t>7895101895</a:t>
                      </a:r>
                      <a:endParaRPr sz="1600"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smtClean="0">
                <a:highlight>
                  <a:srgbClr val="FFFF00"/>
                </a:highlight>
              </a:rPr>
              <a:t>Business and Entrepreneurship</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830997"/>
          </a:xfrm>
          <a:prstGeom prst="rect">
            <a:avLst/>
          </a:prstGeom>
          <a:noFill/>
        </p:spPr>
        <p:txBody>
          <a:bodyPr wrap="square" rtlCol="0">
            <a:spAutoFit/>
          </a:bodyPr>
          <a:lstStyle/>
          <a:p>
            <a:pPr algn="ctr"/>
            <a:r>
              <a:rPr lang="en-US" sz="2400" b="1" dirty="0"/>
              <a:t>Project </a:t>
            </a:r>
            <a:r>
              <a:rPr lang="en-US" sz="2400" b="1" dirty="0" smtClean="0"/>
              <a:t>Title – </a:t>
            </a:r>
            <a:r>
              <a:rPr lang="en-US" sz="2400" b="1" dirty="0" err="1" smtClean="0">
                <a:highlight>
                  <a:srgbClr val="FFFF00"/>
                </a:highlight>
              </a:rPr>
              <a:t>IdeaForge</a:t>
            </a:r>
            <a:r>
              <a:rPr lang="en-US" sz="2400" b="1" dirty="0" smtClean="0">
                <a:highlight>
                  <a:srgbClr val="FFFF00"/>
                </a:highlight>
              </a:rPr>
              <a:t> AI :Smart Business Idea Generator Agent</a:t>
            </a:r>
            <a:endParaRPr lang="en-IN" sz="2400" b="1" dirty="0">
              <a:highlight>
                <a:srgbClr val="FFFF00"/>
              </a:highlight>
            </a:endParaRPr>
          </a:p>
        </p:txBody>
      </p:sp>
      <p:pic>
        <p:nvPicPr>
          <p:cNvPr id="2" name="Picture 1"/>
          <p:cNvPicPr>
            <a:picLocks noChangeAspect="1"/>
          </p:cNvPicPr>
          <p:nvPr/>
        </p:nvPicPr>
        <p:blipFill>
          <a:blip r:embed="rId3"/>
          <a:stretch>
            <a:fillRect/>
          </a:stretch>
        </p:blipFill>
        <p:spPr>
          <a:xfrm>
            <a:off x="4059931" y="3587485"/>
            <a:ext cx="755593" cy="111908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907869"/>
            <a:ext cx="10607040" cy="6586418"/>
          </a:xfrm>
          <a:prstGeom prst="rect">
            <a:avLst/>
          </a:prstGeom>
          <a:noFill/>
        </p:spPr>
        <p:txBody>
          <a:bodyPr wrap="square" rtlCol="0">
            <a:spAutoFit/>
          </a:bodyPr>
          <a:lstStyle/>
          <a:p>
            <a:r>
              <a:rPr lang="en-IN" sz="1800" b="1" dirty="0"/>
              <a:t>Problem </a:t>
            </a:r>
            <a:r>
              <a:rPr lang="en-IN" sz="1800" b="1" dirty="0" smtClean="0"/>
              <a:t>Statement: </a:t>
            </a:r>
            <a:r>
              <a:rPr lang="en-IN" sz="1800" b="1" dirty="0"/>
              <a:t>Smart Business Idea Generator </a:t>
            </a:r>
            <a:r>
              <a:rPr lang="en-IN" sz="1800" b="1" dirty="0" smtClean="0"/>
              <a:t>Agent</a:t>
            </a:r>
          </a:p>
          <a:p>
            <a:endParaRPr lang="en-US" sz="1600" dirty="0"/>
          </a:p>
          <a:p>
            <a:r>
              <a:rPr lang="en-IN" b="1" dirty="0"/>
              <a:t>The Challenge</a:t>
            </a:r>
            <a:endParaRPr lang="en-US" dirty="0"/>
          </a:p>
          <a:p>
            <a:r>
              <a:rPr lang="en-IN" dirty="0"/>
              <a:t>In the digital era, innovation is crucial, but individuals, students, researchers, and organizations often struggle with idea generation. Brainstorming sessions are unstructured, inspiration is scattered across articles, videos, and social media, and existing tools focus on text-only prompts without context-awareness. The challenge is not just to suggest random ideas but to synthesize creativity, context, and relevance into intelligent, actionable ideas for diverse domains such as </a:t>
            </a:r>
            <a:r>
              <a:rPr lang="en-IN" dirty="0" err="1"/>
              <a:t>startups</a:t>
            </a:r>
            <a:r>
              <a:rPr lang="en-IN" dirty="0"/>
              <a:t>, research, content creation, or product development</a:t>
            </a:r>
            <a:r>
              <a:rPr lang="en-IN" dirty="0" smtClean="0"/>
              <a:t>.</a:t>
            </a:r>
          </a:p>
          <a:p>
            <a:endParaRPr lang="en-US" dirty="0"/>
          </a:p>
          <a:p>
            <a:r>
              <a:rPr lang="en-IN" b="1" dirty="0"/>
              <a:t>The Objective</a:t>
            </a:r>
            <a:endParaRPr lang="en-US" dirty="0"/>
          </a:p>
          <a:p>
            <a:r>
              <a:rPr lang="en-IN" dirty="0"/>
              <a:t>Build an agentic AI Smart Idea Generator that empowers users with contextual, innovative, and multimodal ideation. The solution should</a:t>
            </a:r>
            <a:r>
              <a:rPr lang="en-IN" dirty="0" smtClean="0"/>
              <a:t>:</a:t>
            </a:r>
          </a:p>
          <a:p>
            <a:endParaRPr lang="en-US" dirty="0"/>
          </a:p>
          <a:p>
            <a:pPr marL="285750" lvl="0" indent="-285750">
              <a:buFont typeface="Arial" panose="020B0604020202020204" pitchFamily="34" charset="0"/>
              <a:buChar char="•"/>
            </a:pPr>
            <a:r>
              <a:rPr lang="en-IN" b="1" dirty="0"/>
              <a:t>Fuse Knowledge Sources:</a:t>
            </a:r>
            <a:r>
              <a:rPr lang="en-IN" dirty="0"/>
              <a:t> Pull insights from articles, research papers, trend analysis, and social platforms to generate contextual and current ideas.</a:t>
            </a:r>
            <a:endParaRPr lang="en-US" dirty="0"/>
          </a:p>
          <a:p>
            <a:pPr marL="285750" lvl="0" indent="-285750">
              <a:buFont typeface="Arial" panose="020B0604020202020204" pitchFamily="34" charset="0"/>
              <a:buChar char="•"/>
            </a:pPr>
            <a:r>
              <a:rPr lang="en-IN" b="1" dirty="0"/>
              <a:t>Enable Multimodal Brainstorming</a:t>
            </a:r>
            <a:r>
              <a:rPr lang="en-IN" dirty="0"/>
              <a:t>: Accept inputs like text prompts, images (e.g., product sketches), or voice notes and refine them into structured, creative suggestions.</a:t>
            </a:r>
            <a:endParaRPr lang="en-US" dirty="0"/>
          </a:p>
          <a:p>
            <a:pPr marL="285750" lvl="0" indent="-285750">
              <a:buFont typeface="Arial" panose="020B0604020202020204" pitchFamily="34" charset="0"/>
              <a:buChar char="•"/>
            </a:pPr>
            <a:r>
              <a:rPr lang="en-IN" b="1" dirty="0"/>
              <a:t>Create a Predictive &amp; Agentic Layer:</a:t>
            </a:r>
            <a:r>
              <a:rPr lang="en-IN" dirty="0"/>
              <a:t> Identify trending domains (e.g., AI in healthcare, sustainable energy), forecast idea relevance, and recommend high-impact directions.</a:t>
            </a:r>
            <a:endParaRPr lang="en-US" dirty="0"/>
          </a:p>
          <a:p>
            <a:pPr marL="285750" lvl="0" indent="-285750">
              <a:buFont typeface="Arial" panose="020B0604020202020204" pitchFamily="34" charset="0"/>
              <a:buChar char="•"/>
            </a:pPr>
            <a:r>
              <a:rPr lang="en-IN" b="1" dirty="0"/>
              <a:t>Visualize Idea Maps:</a:t>
            </a:r>
            <a:r>
              <a:rPr lang="en-IN" dirty="0"/>
              <a:t> Provide an interactive dashboard that organizes ideas into categories, impact scores, and feasibility maps, helping users explore and refine concepts quickly</a:t>
            </a:r>
            <a:r>
              <a:rPr lang="en-IN" dirty="0" smtClean="0"/>
              <a:t>.</a:t>
            </a:r>
          </a:p>
          <a:p>
            <a:pPr marL="285750" lvl="0" indent="-285750">
              <a:buFont typeface="Arial" panose="020B0604020202020204" pitchFamily="34" charset="0"/>
              <a:buChar char="•"/>
            </a:pPr>
            <a:endParaRPr lang="en-US" dirty="0"/>
          </a:p>
          <a:p>
            <a:r>
              <a:rPr lang="en-IN" b="1" dirty="0"/>
              <a:t>Tech Stack </a:t>
            </a:r>
          </a:p>
          <a:p>
            <a:r>
              <a:rPr lang="en-IN" dirty="0" smtClean="0"/>
              <a:t>IBM </a:t>
            </a:r>
            <a:r>
              <a:rPr lang="en-IN" dirty="0" err="1"/>
              <a:t>Langflow</a:t>
            </a:r>
            <a:r>
              <a:rPr lang="en-IN" dirty="0"/>
              <a:t> / IBM Orchestrate + IBM Models</a:t>
            </a:r>
            <a:endParaRPr lang="en-US" dirty="0"/>
          </a:p>
          <a:p>
            <a:r>
              <a:rPr lang="en-IN" sz="1600" b="1" dirty="0"/>
              <a:t/>
            </a:r>
            <a:br>
              <a:rPr lang="en-IN" sz="1600" b="1" dirty="0"/>
            </a:br>
            <a:r>
              <a:rPr lang="en-IN" sz="1600" b="1" dirty="0"/>
              <a:t> </a:t>
            </a:r>
            <a:endParaRPr lang="en-US" sz="1600" dirty="0"/>
          </a:p>
          <a:p>
            <a:pPr fontAlgn="base"/>
            <a:r>
              <a:rPr lang="en-US" sz="1600" dirty="0"/>
              <a:t> </a:t>
            </a:r>
          </a:p>
          <a:p>
            <a:pPr fontAlgn="base"/>
            <a:endParaRPr lang="en-US" sz="1600" dirty="0"/>
          </a:p>
          <a:p>
            <a:endParaRPr lang="en-IN" sz="1600"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22206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5663089"/>
          </a:xfrm>
          <a:prstGeom prst="rect">
            <a:avLst/>
          </a:prstGeom>
          <a:noFill/>
        </p:spPr>
        <p:txBody>
          <a:bodyPr wrap="square" rtlCol="0">
            <a:spAutoFit/>
          </a:bodyPr>
          <a:lstStyle/>
          <a:p>
            <a:pPr fontAlgn="base"/>
            <a:endParaRPr lang="en-US" b="1" dirty="0"/>
          </a:p>
          <a:p>
            <a:pPr algn="just"/>
            <a:r>
              <a:rPr lang="en-US" sz="1600" b="1" dirty="0"/>
              <a:t>Proposed Solution: AI-Powered Smart Business Idea Generator </a:t>
            </a:r>
            <a:r>
              <a:rPr lang="en-US" sz="1600" b="1" dirty="0" smtClean="0"/>
              <a:t>Agent</a:t>
            </a:r>
          </a:p>
          <a:p>
            <a:pPr algn="just"/>
            <a:endParaRPr lang="en-US" sz="1600" b="1" dirty="0"/>
          </a:p>
          <a:p>
            <a:pPr algn="just"/>
            <a:r>
              <a:rPr lang="en-US" sz="1600" dirty="0"/>
              <a:t>The proposed solution is a </a:t>
            </a:r>
            <a:r>
              <a:rPr lang="en-US" sz="1600" b="1" dirty="0"/>
              <a:t>multi-agent AI-powered Smart Business Idea Generator</a:t>
            </a:r>
            <a:r>
              <a:rPr lang="en-US" sz="1600" dirty="0"/>
              <a:t> built using </a:t>
            </a:r>
            <a:r>
              <a:rPr lang="en-US" sz="1600" b="1" dirty="0"/>
              <a:t>IBM Bob, IBM watsonx.ai, IBM </a:t>
            </a:r>
            <a:r>
              <a:rPr lang="en-US" sz="1600" b="1" dirty="0" err="1"/>
              <a:t>Langflow</a:t>
            </a:r>
            <a:r>
              <a:rPr lang="en-US" sz="1600" b="1" dirty="0"/>
              <a:t>/Orchestrate, and Granite Models</a:t>
            </a:r>
            <a:r>
              <a:rPr lang="en-US" sz="1600" dirty="0"/>
              <a:t>. It helps users generate innovative, context-aware, and practical business ideas by combining AI reasoning with real-time market insights.</a:t>
            </a:r>
          </a:p>
          <a:p>
            <a:pPr algn="just"/>
            <a:r>
              <a:rPr lang="en-US" sz="1600" dirty="0"/>
              <a:t>The solution uses a </a:t>
            </a:r>
            <a:r>
              <a:rPr lang="en-US" sz="1600" b="1" dirty="0"/>
              <a:t>Retrieval-Augmented Generation (RAG)</a:t>
            </a:r>
            <a:r>
              <a:rPr lang="en-US" sz="1600" dirty="0"/>
              <a:t> pipeline to retrieve information from research papers, market reports, startup databases, and industry trends. This knowledge is stored in a vector database, enabling accurate and relevant idea generation.</a:t>
            </a:r>
          </a:p>
          <a:p>
            <a:pPr algn="just"/>
            <a:r>
              <a:rPr lang="en-US" sz="1600" dirty="0"/>
              <a:t>The system consists of four key agents:</a:t>
            </a:r>
          </a:p>
          <a:p>
            <a:pPr marL="285750" indent="-285750" algn="just">
              <a:buFont typeface="Arial" panose="020B0604020202020204" pitchFamily="34" charset="0"/>
              <a:buChar char="•"/>
            </a:pPr>
            <a:r>
              <a:rPr lang="en-US" sz="1600" b="1" dirty="0"/>
              <a:t>Knowledge Agent:</a:t>
            </a:r>
            <a:r>
              <a:rPr lang="en-US" sz="1600" dirty="0"/>
              <a:t> Retrieves and summarizes market trends, research, and industry insights. </a:t>
            </a:r>
          </a:p>
          <a:p>
            <a:pPr marL="285750" indent="-285750" algn="just">
              <a:buFont typeface="Arial" panose="020B0604020202020204" pitchFamily="34" charset="0"/>
              <a:buChar char="•"/>
            </a:pPr>
            <a:r>
              <a:rPr lang="en-US" sz="1600" b="1" dirty="0"/>
              <a:t>Idea Generation Agent:</a:t>
            </a:r>
            <a:r>
              <a:rPr lang="en-US" sz="1600" dirty="0"/>
              <a:t> Generates personalized business ideas based on user interests, budget, and domain. </a:t>
            </a:r>
          </a:p>
          <a:p>
            <a:pPr marL="285750" indent="-285750" algn="just">
              <a:buFont typeface="Arial" panose="020B0604020202020204" pitchFamily="34" charset="0"/>
              <a:buChar char="•"/>
            </a:pPr>
            <a:r>
              <a:rPr lang="en-US" sz="1600" b="1" dirty="0"/>
              <a:t>Trend &amp; Feasibility Agent:</a:t>
            </a:r>
            <a:r>
              <a:rPr lang="en-US" sz="1600" dirty="0"/>
              <a:t> Evaluates market potential, feasibility, and business risks. </a:t>
            </a:r>
          </a:p>
          <a:p>
            <a:pPr marL="285750" indent="-285750" algn="just">
              <a:buFont typeface="Arial" panose="020B0604020202020204" pitchFamily="34" charset="0"/>
              <a:buChar char="•"/>
            </a:pPr>
            <a:r>
              <a:rPr lang="en-US" sz="1600" b="1" dirty="0"/>
              <a:t>Multimodal Brainstorming Agent:</a:t>
            </a:r>
            <a:r>
              <a:rPr lang="en-US" sz="1600" dirty="0"/>
              <a:t> Accepts text, voice, or image inputs and converts them into structured business concepts. </a:t>
            </a:r>
          </a:p>
          <a:p>
            <a:pPr algn="just"/>
            <a:r>
              <a:rPr lang="en-US" sz="1600" dirty="0"/>
              <a:t>The solution includes a </a:t>
            </a:r>
            <a:r>
              <a:rPr lang="en-US" sz="1600" b="1" dirty="0"/>
              <a:t>user-friendly dashboard</a:t>
            </a:r>
            <a:r>
              <a:rPr lang="en-US" sz="1600" dirty="0"/>
              <a:t> (</a:t>
            </a:r>
            <a:r>
              <a:rPr lang="en-US" sz="1600" dirty="0" err="1"/>
              <a:t>Streamlit</a:t>
            </a:r>
            <a:r>
              <a:rPr lang="en-US" sz="1600" dirty="0"/>
              <a:t>/React) that displays generated ideas, feasibility scores, market trends, and implementation roadmaps.</a:t>
            </a:r>
          </a:p>
          <a:p>
            <a:pPr algn="just"/>
            <a:r>
              <a:rPr lang="en-US" sz="1600" b="1" dirty="0"/>
              <a:t>IBM Bob</a:t>
            </a:r>
            <a:r>
              <a:rPr lang="en-US" sz="1600" dirty="0"/>
              <a:t> orchestrates the agent workflows, while </a:t>
            </a:r>
            <a:r>
              <a:rPr lang="en-US" sz="1600" b="1" dirty="0"/>
              <a:t>watsonx.ai</a:t>
            </a:r>
            <a:r>
              <a:rPr lang="en-US" sz="1600" dirty="0"/>
              <a:t> manages AI models, </a:t>
            </a:r>
            <a:r>
              <a:rPr lang="en-US" sz="1600" dirty="0" err="1"/>
              <a:t>embeddings</a:t>
            </a:r>
            <a:r>
              <a:rPr lang="en-US" sz="1600" dirty="0"/>
              <a:t>, and governance. </a:t>
            </a:r>
            <a:r>
              <a:rPr lang="en-US" sz="1600" b="1" dirty="0"/>
              <a:t>Granite Models</a:t>
            </a:r>
            <a:r>
              <a:rPr lang="en-US" sz="1600" dirty="0"/>
              <a:t> power reasoning, summarization, and idea generation.</a:t>
            </a:r>
          </a:p>
          <a:p>
            <a:pPr algn="just"/>
            <a:r>
              <a:rPr lang="en-US" sz="1600" dirty="0"/>
              <a:t>Overall, the solution provides an </a:t>
            </a:r>
            <a:r>
              <a:rPr lang="en-US" sz="1600" b="1" dirty="0"/>
              <a:t>end-to-end intelligent business ideation platform</a:t>
            </a:r>
            <a:r>
              <a:rPr lang="en-US" sz="1600" dirty="0"/>
              <a:t> that enables users to quickly generate, evaluate, and refine innovative business ideas with AI-driven insights.</a:t>
            </a:r>
          </a:p>
          <a:p>
            <a:pPr fontAlgn="base"/>
            <a:endParaRPr lang="en-US" dirty="0"/>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523220"/>
          </a:xfrm>
          <a:prstGeom prst="rect">
            <a:avLst/>
          </a:prstGeom>
          <a:noFill/>
        </p:spPr>
        <p:txBody>
          <a:bodyPr wrap="square" rtlCol="0">
            <a:spAutoFit/>
          </a:bodyPr>
          <a:lstStyle/>
          <a:p>
            <a:r>
              <a:rPr lang="en-US" sz="2800" b="1" dirty="0"/>
              <a:t>Proposed Solution -</a:t>
            </a:r>
            <a:endParaRPr lang="en-IN" sz="2800" b="1" dirty="0"/>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4955203"/>
          </a:xfrm>
          <a:prstGeom prst="rect">
            <a:avLst/>
          </a:prstGeom>
          <a:noFill/>
        </p:spPr>
        <p:txBody>
          <a:bodyPr wrap="square" rtlCol="0">
            <a:spAutoFit/>
          </a:bodyPr>
          <a:lstStyle/>
          <a:p>
            <a:pPr marL="285750" indent="-285750">
              <a:buFont typeface="Arial" panose="020B0604020202020204" pitchFamily="34" charset="0"/>
              <a:buChar char="•"/>
            </a:pPr>
            <a:r>
              <a:rPr lang="en-US" sz="1800" b="1" dirty="0"/>
              <a:t>IBM Bob platform </a:t>
            </a:r>
            <a:r>
              <a:rPr lang="en-US" sz="1800" dirty="0"/>
              <a:t>-For designing and orchestrating multi-agent workflows visually</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smtClean="0"/>
              <a:t>Granite </a:t>
            </a:r>
            <a:r>
              <a:rPr lang="en-US" sz="1800" b="1" dirty="0"/>
              <a:t>model </a:t>
            </a:r>
            <a:r>
              <a:rPr lang="en-US" sz="1800" dirty="0"/>
              <a:t>- </a:t>
            </a:r>
            <a:r>
              <a:rPr lang="en-US" sz="1800" dirty="0" smtClean="0"/>
              <a:t> ibm-granite-3-3-8b </a:t>
            </a:r>
            <a:r>
              <a:rPr lang="en-US" sz="1800" dirty="0"/>
              <a:t>– For natural language understanding, reasoning, and personalization</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Cloud </a:t>
            </a:r>
            <a:r>
              <a:rPr lang="en-US" sz="1800" dirty="0"/>
              <a:t>– It provides the infrastructure to build, deploy, and scale </a:t>
            </a:r>
            <a:r>
              <a:rPr lang="en-US" sz="1800" dirty="0" smtClean="0"/>
              <a:t>efficiently</a:t>
            </a:r>
            <a:r>
              <a:rPr lang="en-US" sz="1800" dirty="0"/>
              <a:t>. IBM Cloud enables a </a:t>
            </a:r>
            <a:r>
              <a:rPr lang="en-US" sz="1800" b="1" dirty="0"/>
              <a:t>reliable, secure, and scalable environment</a:t>
            </a:r>
            <a:r>
              <a:rPr lang="en-US" sz="1800" dirty="0"/>
              <a:t> for deploying the </a:t>
            </a:r>
            <a:r>
              <a:rPr lang="en-US" sz="1800" dirty="0" err="1" smtClean="0"/>
              <a:t>IdeaForge</a:t>
            </a:r>
            <a:r>
              <a:rPr lang="en-US" sz="1800" dirty="0" smtClean="0"/>
              <a:t> AI</a:t>
            </a:r>
            <a:r>
              <a:rPr lang="en-US" sz="1800" dirty="0" smtClean="0"/>
              <a:t>.</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RAG– </a:t>
            </a:r>
            <a:r>
              <a:rPr lang="en-US" sz="1800" dirty="0"/>
              <a:t>RAG to </a:t>
            </a:r>
            <a:r>
              <a:rPr lang="en-US" sz="1800" b="1" dirty="0"/>
              <a:t>fetch real data first, then generate intelligent answers</a:t>
            </a:r>
            <a:r>
              <a:rPr lang="en-US" sz="1800" dirty="0"/>
              <a:t>, making the </a:t>
            </a:r>
            <a:r>
              <a:rPr lang="en-US" sz="1800" dirty="0" smtClean="0"/>
              <a:t>Idea Forge</a:t>
            </a:r>
            <a:r>
              <a:rPr lang="en-US" sz="1800" dirty="0" smtClean="0"/>
              <a:t> </a:t>
            </a:r>
            <a:r>
              <a:rPr lang="en-US" sz="1800" dirty="0"/>
              <a:t>more trustworthy and effective.</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 - </a:t>
            </a:r>
            <a:r>
              <a:rPr lang="en-US" sz="1800" dirty="0"/>
              <a:t>For model deployment, embeddings, and AI </a:t>
            </a:r>
            <a:r>
              <a:rPr lang="en-US" sz="1800" dirty="0" smtClean="0"/>
              <a:t>governance.</a:t>
            </a:r>
            <a:endParaRPr lang="en-US" sz="1800" dirty="0"/>
          </a:p>
          <a:p>
            <a:pPr marL="285750" indent="-285750">
              <a:buFont typeface="Arial" panose="020B0604020202020204" pitchFamily="34" charset="0"/>
              <a:buChar char="•"/>
            </a:pPr>
            <a:endParaRPr lang="en-US" sz="1800" dirty="0"/>
          </a:p>
          <a:p>
            <a:endParaRPr lang="en-US" sz="1800" dirty="0"/>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a:sym typeface="Times New Roman"/>
              </a:rPr>
              <a:t>Required Files created using IBM bob -</a:t>
            </a:r>
            <a:endParaRPr sz="2400" b="1" dirty="0">
              <a:sym typeface="Times New Roman"/>
            </a:endParaRPr>
          </a:p>
        </p:txBody>
      </p:sp>
      <p:sp>
        <p:nvSpPr>
          <p:cNvPr id="148" name="Google Shape;148;p5">
            <a:extLst>
              <a:ext uri="{FF2B5EF4-FFF2-40B4-BE49-F238E27FC236}">
                <a16:creationId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9BB86949-7ED1-C43B-B1E3-5122BB67A596}"/>
              </a:ext>
            </a:extLst>
          </p:cNvPr>
          <p:cNvSpPr txBox="1"/>
          <p:nvPr/>
        </p:nvSpPr>
        <p:spPr>
          <a:xfrm>
            <a:off x="474822" y="863187"/>
            <a:ext cx="8823960" cy="4185761"/>
          </a:xfrm>
          <a:prstGeom prst="rect">
            <a:avLst/>
          </a:prstGeom>
          <a:noFill/>
        </p:spPr>
        <p:txBody>
          <a:bodyPr wrap="square" rtlCol="0">
            <a:spAutoFit/>
          </a:bodyPr>
          <a:lstStyle/>
          <a:p>
            <a:pPr marL="342900" indent="-342900">
              <a:buFont typeface="+mj-lt"/>
              <a:buAutoNum type="arabicPeriod"/>
            </a:pPr>
            <a:endParaRPr lang="en-US" dirty="0"/>
          </a:p>
          <a:p>
            <a:pPr marL="342900" indent="-342900">
              <a:buFont typeface="+mj-lt"/>
              <a:buAutoNum type="arabicPeriod"/>
            </a:pPr>
            <a:r>
              <a:rPr lang="en-US" sz="1800" dirty="0" smtClean="0"/>
              <a:t>App.py</a:t>
            </a:r>
            <a:endParaRPr lang="en-US" sz="1800" dirty="0"/>
          </a:p>
          <a:p>
            <a:pPr marL="342900" indent="-342900">
              <a:buFont typeface="+mj-lt"/>
              <a:buAutoNum type="arabicPeriod"/>
            </a:pPr>
            <a:endParaRPr lang="en-US" sz="1800" dirty="0"/>
          </a:p>
          <a:p>
            <a:pPr marL="342900" indent="-342900">
              <a:buFont typeface="+mj-lt"/>
              <a:buAutoNum type="arabicPeriod"/>
            </a:pPr>
            <a:r>
              <a:rPr lang="en-US" sz="1800" dirty="0"/>
              <a:t>Style.css </a:t>
            </a:r>
          </a:p>
          <a:p>
            <a:pPr marL="342900" indent="-342900">
              <a:buFont typeface="+mj-lt"/>
              <a:buAutoNum type="arabicPeriod"/>
            </a:pPr>
            <a:endParaRPr lang="en-US" sz="1800" dirty="0"/>
          </a:p>
          <a:p>
            <a:pPr marL="342900" indent="-342900">
              <a:buFont typeface="+mj-lt"/>
              <a:buAutoNum type="arabicPeriod"/>
            </a:pPr>
            <a:r>
              <a:rPr lang="en-US" sz="1800" dirty="0"/>
              <a:t>.env</a:t>
            </a:r>
          </a:p>
          <a:p>
            <a:pPr marL="342900" indent="-342900">
              <a:buFont typeface="+mj-lt"/>
              <a:buAutoNum type="arabicPeriod"/>
            </a:pPr>
            <a:endParaRPr lang="en-US" sz="1800" dirty="0"/>
          </a:p>
          <a:p>
            <a:pPr marL="342900" indent="-342900">
              <a:buFont typeface="+mj-lt"/>
              <a:buAutoNum type="arabicPeriod"/>
            </a:pPr>
            <a:r>
              <a:rPr lang="en-US" sz="1800" dirty="0"/>
              <a:t>Index.html</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pic>
        <p:nvPicPr>
          <p:cNvPr id="13" name="Picture 12"/>
          <p:cNvPicPr/>
          <p:nvPr/>
        </p:nvPicPr>
        <p:blipFill>
          <a:blip r:embed="rId3"/>
          <a:stretch>
            <a:fillRect/>
          </a:stretch>
        </p:blipFill>
        <p:spPr>
          <a:xfrm>
            <a:off x="3860800" y="1587500"/>
            <a:ext cx="7815183" cy="4606262"/>
          </a:xfrm>
          <a:prstGeom prst="rect">
            <a:avLst/>
          </a:prstGeom>
        </p:spPr>
      </p:pic>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3500" b="1" i="0" u="none" strike="noStrike" cap="none" dirty="0">
                <a:solidFill>
                  <a:srgbClr val="051D3A"/>
                </a:solidFill>
                <a:latin typeface="Times New Roman"/>
                <a:ea typeface="Times New Roman"/>
                <a:cs typeface="Times New Roman"/>
                <a:sym typeface="Times New Roman"/>
              </a:rPr>
              <a:t> </a:t>
            </a:r>
            <a:r>
              <a:rPr lang="en-US" sz="2400" b="1" i="0" u="none" strike="noStrike" cap="none" dirty="0">
                <a:solidFill>
                  <a:srgbClr val="051D3A"/>
                </a:solidFill>
                <a:latin typeface="Times New Roman"/>
                <a:ea typeface="Times New Roman"/>
                <a:cs typeface="Times New Roman"/>
                <a:sym typeface="Times New Roman"/>
              </a:rPr>
              <a:t>IBM Bob Screenshots:</a:t>
            </a:r>
            <a:endParaRPr sz="2400" b="1" dirty="0">
              <a:sym typeface="Times New Roman"/>
            </a:endParaRPr>
          </a:p>
        </p:txBody>
      </p:sp>
      <p:pic>
        <p:nvPicPr>
          <p:cNvPr id="4" name="Picture 3"/>
          <p:cNvPicPr/>
          <p:nvPr/>
        </p:nvPicPr>
        <p:blipFill>
          <a:blip r:embed="rId3"/>
          <a:stretch>
            <a:fillRect/>
          </a:stretch>
        </p:blipFill>
        <p:spPr>
          <a:xfrm>
            <a:off x="838200" y="1076547"/>
            <a:ext cx="9855200" cy="5356638"/>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2"/>
          <a:stretch>
            <a:fillRect/>
          </a:stretch>
        </p:blipFill>
        <p:spPr>
          <a:xfrm>
            <a:off x="647700" y="558800"/>
            <a:ext cx="10820400" cy="6014085"/>
          </a:xfrm>
          <a:prstGeom prst="rect">
            <a:avLst/>
          </a:prstGeom>
        </p:spPr>
      </p:pic>
    </p:spTree>
    <p:extLst>
      <p:ext uri="{BB962C8B-B14F-4D97-AF65-F5344CB8AC3E}">
        <p14:creationId xmlns:p14="http://schemas.microsoft.com/office/powerpoint/2010/main" val="2323718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pic>
        <p:nvPicPr>
          <p:cNvPr id="4" name="Picture 3"/>
          <p:cNvPicPr/>
          <p:nvPr/>
        </p:nvPicPr>
        <p:blipFill>
          <a:blip r:embed="rId3"/>
          <a:stretch>
            <a:fillRect/>
          </a:stretch>
        </p:blipFill>
        <p:spPr>
          <a:xfrm>
            <a:off x="1016000" y="279400"/>
            <a:ext cx="9893300" cy="614108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55016524-E738-3D8C-3BB2-B0BE7C665318}"/>
            </a:ext>
          </a:extLst>
        </p:cNvPr>
        <p:cNvGrpSpPr/>
        <p:nvPr/>
      </p:nvGrpSpPr>
      <p:grpSpPr>
        <a:xfrm>
          <a:off x="0" y="0"/>
          <a:ext cx="0" cy="0"/>
          <a:chOff x="0" y="0"/>
          <a:chExt cx="0" cy="0"/>
        </a:xfrm>
      </p:grpSpPr>
      <p:sp>
        <p:nvSpPr>
          <p:cNvPr id="282" name="Google Shape;282;p18">
            <a:extLst>
              <a:ext uri="{FF2B5EF4-FFF2-40B4-BE49-F238E27FC236}">
                <a16:creationId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pic>
        <p:nvPicPr>
          <p:cNvPr id="11" name="Picture 10"/>
          <p:cNvPicPr/>
          <p:nvPr/>
        </p:nvPicPr>
        <p:blipFill>
          <a:blip r:embed="rId3"/>
          <a:stretch>
            <a:fillRect/>
          </a:stretch>
        </p:blipFill>
        <p:spPr>
          <a:xfrm>
            <a:off x="876300" y="381000"/>
            <a:ext cx="10007600" cy="6026785"/>
          </a:xfrm>
          <a:prstGeom prst="rect">
            <a:avLst/>
          </a:prstGeom>
        </p:spPr>
      </p:pic>
    </p:spTree>
    <p:extLst>
      <p:ext uri="{BB962C8B-B14F-4D97-AF65-F5344CB8AC3E}">
        <p14:creationId xmlns:p14="http://schemas.microsoft.com/office/powerpoint/2010/main" val="21154848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3108543"/>
          </a:xfrm>
          <a:prstGeom prst="rect">
            <a:avLst/>
          </a:prstGeom>
          <a:noFill/>
        </p:spPr>
        <p:txBody>
          <a:bodyPr wrap="square" rtlCol="0">
            <a:spAutoFit/>
          </a:bodyPr>
          <a:lstStyle/>
          <a:p>
            <a:r>
              <a:rPr lang="en-US" b="1" dirty="0"/>
              <a:t>Role of Agentic AI </a:t>
            </a:r>
            <a:r>
              <a:rPr lang="en-US" b="1" dirty="0" smtClean="0"/>
              <a:t>in Idea Forge</a:t>
            </a:r>
            <a:endParaRPr lang="en-US" b="1" dirty="0"/>
          </a:p>
          <a:p>
            <a:r>
              <a:rPr lang="en-US" b="1" dirty="0"/>
              <a:t>Agentic AI</a:t>
            </a:r>
            <a:r>
              <a:rPr lang="en-US" dirty="0"/>
              <a:t> enables the </a:t>
            </a:r>
            <a:r>
              <a:rPr lang="en-US" dirty="0" smtClean="0"/>
              <a:t>Idea Forge</a:t>
            </a:r>
            <a:r>
              <a:rPr lang="en-US" dirty="0" smtClean="0"/>
              <a:t> </a:t>
            </a:r>
            <a:r>
              <a:rPr lang="en-US" dirty="0"/>
              <a:t>to function as an intelligent, autonomous system rather than a simple </a:t>
            </a:r>
            <a:r>
              <a:rPr lang="en-US" dirty="0" err="1"/>
              <a:t>chatbot</a:t>
            </a:r>
            <a:r>
              <a:rPr lang="en-US" dirty="0"/>
              <a:t>. Using </a:t>
            </a:r>
            <a:r>
              <a:rPr lang="en-US" b="1" dirty="0"/>
              <a:t>IBM watsonx.ai</a:t>
            </a:r>
            <a:r>
              <a:rPr lang="en-US" dirty="0"/>
              <a:t> and </a:t>
            </a:r>
            <a:r>
              <a:rPr lang="en-US" b="1" dirty="0"/>
              <a:t>IBM Granite models</a:t>
            </a:r>
            <a:r>
              <a:rPr lang="en-US" dirty="0"/>
              <a:t>, it coordinates multiple specialized agents to deliver </a:t>
            </a:r>
            <a:r>
              <a:rPr lang="en-US" dirty="0" smtClean="0"/>
              <a:t>smart business idea</a:t>
            </a:r>
            <a:r>
              <a:rPr lang="en-US" dirty="0" smtClean="0"/>
              <a:t>.</a:t>
            </a:r>
            <a:endParaRPr lang="en-US" dirty="0"/>
          </a:p>
          <a:p>
            <a:r>
              <a:rPr lang="en-US" dirty="0"/>
              <a:t>Each agent performs a specific role—such </a:t>
            </a:r>
            <a:r>
              <a:rPr lang="en-US" dirty="0" smtClean="0"/>
              <a:t>as collect and organize contextual information, </a:t>
            </a:r>
            <a:r>
              <a:rPr lang="en-US" dirty="0"/>
              <a:t>generating </a:t>
            </a:r>
            <a:r>
              <a:rPr lang="en-US" dirty="0" smtClean="0"/>
              <a:t>innovative business and project idea</a:t>
            </a:r>
            <a:r>
              <a:rPr lang="en-US" dirty="0" smtClean="0"/>
              <a:t>, predict future relevance of generated ideas, </a:t>
            </a:r>
            <a:r>
              <a:rPr lang="en-US" dirty="0"/>
              <a:t>and </a:t>
            </a:r>
            <a:r>
              <a:rPr lang="en-US" dirty="0" smtClean="0"/>
              <a:t>evaluate practicality of ideas </a:t>
            </a:r>
            <a:r>
              <a:rPr lang="en-US" dirty="0" smtClean="0"/>
              <a:t>—while </a:t>
            </a:r>
            <a:r>
              <a:rPr lang="en-US" dirty="0"/>
              <a:t>working collaboratively. This </a:t>
            </a:r>
            <a:r>
              <a:rPr lang="en-US" b="1" dirty="0"/>
              <a:t>multi-agent approach</a:t>
            </a:r>
            <a:r>
              <a:rPr lang="en-US" dirty="0"/>
              <a:t> ensures efficient task execution and accurate results.</a:t>
            </a:r>
          </a:p>
          <a:p>
            <a:r>
              <a:rPr lang="en-US" dirty="0"/>
              <a:t>Agentic AI also brings </a:t>
            </a:r>
            <a:r>
              <a:rPr lang="en-US" b="1" dirty="0"/>
              <a:t>context awareness</a:t>
            </a:r>
            <a:r>
              <a:rPr lang="en-US" dirty="0"/>
              <a:t>, understanding user </a:t>
            </a:r>
            <a:r>
              <a:rPr lang="en-US" dirty="0" smtClean="0"/>
              <a:t>details. </a:t>
            </a:r>
            <a:r>
              <a:rPr lang="en-US" dirty="0"/>
              <a:t>It supports </a:t>
            </a:r>
            <a:r>
              <a:rPr lang="en-US" b="1" dirty="0"/>
              <a:t>real-time adaptation</a:t>
            </a:r>
            <a:r>
              <a:rPr lang="en-US" dirty="0"/>
              <a:t>, continuously updating suggestions based on user </a:t>
            </a:r>
            <a:r>
              <a:rPr lang="en-US" dirty="0" smtClean="0"/>
              <a:t>inputs.</a:t>
            </a:r>
            <a:endParaRPr lang="en-US" dirty="0"/>
          </a:p>
          <a:p>
            <a:r>
              <a:rPr lang="en-US" dirty="0"/>
              <a:t>Additionally, agents communicate with each other, enabling better decision-making and improved outcomes.</a:t>
            </a:r>
          </a:p>
          <a:p>
            <a:r>
              <a:rPr lang="en-US" dirty="0"/>
              <a:t>Overall, Agentic AI makes the system proactive, personalized, and goal-driven, acting like a </a:t>
            </a:r>
            <a:r>
              <a:rPr lang="en-US" b="1" dirty="0"/>
              <a:t>smart </a:t>
            </a:r>
            <a:r>
              <a:rPr lang="en-US" b="1" dirty="0" smtClean="0"/>
              <a:t>business idea generator.</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1863F011-FD59-2782-3732-0E3263170F5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78DA0257-5105-834D-150D-50732C7248D1}"/>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827D77C8-2496-7668-B3B3-927FD4DB704D}"/>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pic>
        <p:nvPicPr>
          <p:cNvPr id="8" name="Picture 7"/>
          <p:cNvPicPr/>
          <p:nvPr/>
        </p:nvPicPr>
        <p:blipFill>
          <a:blip r:embed="rId3"/>
          <a:stretch>
            <a:fillRect/>
          </a:stretch>
        </p:blipFill>
        <p:spPr>
          <a:xfrm>
            <a:off x="774700" y="816977"/>
            <a:ext cx="10363200" cy="5451108"/>
          </a:xfrm>
          <a:prstGeom prst="rect">
            <a:avLst/>
          </a:prstGeom>
        </p:spPr>
      </p:pic>
    </p:spTree>
    <p:extLst>
      <p:ext uri="{BB962C8B-B14F-4D97-AF65-F5344CB8AC3E}">
        <p14:creationId xmlns:p14="http://schemas.microsoft.com/office/powerpoint/2010/main" val="1429961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A1254DC3-8448-76A3-8631-9484D98C80E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A5DD5E73-E4F8-AB1C-5A5A-D4EBAD6FD1B8}"/>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pic>
        <p:nvPicPr>
          <p:cNvPr id="8" name="Picture 7"/>
          <p:cNvPicPr/>
          <p:nvPr/>
        </p:nvPicPr>
        <p:blipFill>
          <a:blip r:embed="rId3"/>
          <a:stretch>
            <a:fillRect/>
          </a:stretch>
        </p:blipFill>
        <p:spPr>
          <a:xfrm>
            <a:off x="910040" y="816977"/>
            <a:ext cx="9745260" cy="5463808"/>
          </a:xfrm>
          <a:prstGeom prst="rect">
            <a:avLst/>
          </a:prstGeom>
        </p:spPr>
      </p:pic>
    </p:spTree>
    <p:extLst>
      <p:ext uri="{BB962C8B-B14F-4D97-AF65-F5344CB8AC3E}">
        <p14:creationId xmlns:p14="http://schemas.microsoft.com/office/powerpoint/2010/main" val="35850923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E3C4AEBB-2963-4EEE-D8ED-E3B5ABCFF21F}"/>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67AD5A0A-54A3-BC96-26BB-9C49B61555EC}"/>
              </a:ext>
            </a:extLst>
          </p:cNvPr>
          <p:cNvSpPr/>
          <p:nvPr/>
        </p:nvSpPr>
        <p:spPr>
          <a:xfrm>
            <a:off x="409144" y="112960"/>
            <a:ext cx="6444496" cy="704017"/>
          </a:xfrm>
          <a:prstGeom prst="rect">
            <a:avLst/>
          </a:prstGeom>
          <a:noFill/>
          <a:ln>
            <a:noFill/>
          </a:ln>
        </p:spPr>
        <p:txBody>
          <a:bodyPr spcFirstLastPara="1" wrap="square" lIns="0" tIns="0" rIns="0" bIns="0" anchor="t" anchorCtr="0">
            <a:noAutofit/>
          </a:bodyPr>
          <a:lstStyle/>
          <a:p>
            <a:pPr>
              <a:lnSpc>
                <a:spcPct val="157142"/>
              </a:lnSpc>
              <a:buClr>
                <a:srgbClr val="051D3A"/>
              </a:buClr>
              <a:buSzPts val="3500"/>
            </a:pPr>
            <a:r>
              <a:rPr lang="en-US" sz="2400" b="1" dirty="0">
                <a:sym typeface="Times New Roman"/>
              </a:rPr>
              <a:t> Project Output Screenshot</a:t>
            </a:r>
            <a:endParaRPr sz="2400" b="1" dirty="0">
              <a:sym typeface="Times New Roman"/>
            </a:endParaRPr>
          </a:p>
        </p:txBody>
      </p:sp>
      <p:sp>
        <p:nvSpPr>
          <p:cNvPr id="280" name="Google Shape;280;p18">
            <a:extLst>
              <a:ext uri="{FF2B5EF4-FFF2-40B4-BE49-F238E27FC236}">
                <a16:creationId xmlns:a16="http://schemas.microsoft.com/office/drawing/2014/main" id="{A12490E1-7210-03FA-8406-7044E50A98B3}"/>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D0575C07-AA6B-0149-734C-B101314C9343}"/>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77B9C142-F05E-0FCB-045D-6B4B10F795C3}"/>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a16="http://schemas.microsoft.com/office/drawing/2014/main" id="{EB55001C-8880-8B09-8704-29D3F62E7A03}"/>
              </a:ext>
            </a:extLst>
          </p:cNvPr>
          <p:cNvSpPr txBox="1"/>
          <p:nvPr/>
        </p:nvSpPr>
        <p:spPr>
          <a:xfrm>
            <a:off x="1335024" y="1865376"/>
            <a:ext cx="6833922" cy="707886"/>
          </a:xfrm>
          <a:prstGeom prst="rect">
            <a:avLst/>
          </a:prstGeom>
          <a:noFill/>
        </p:spPr>
        <p:txBody>
          <a:bodyPr wrap="none" rtlCol="0">
            <a:spAutoFit/>
          </a:bodyPr>
          <a:lstStyle/>
          <a:p>
            <a:r>
              <a:rPr lang="en-US" sz="2000" dirty="0">
                <a:solidFill>
                  <a:srgbClr val="FF0000"/>
                </a:solidFill>
              </a:rPr>
              <a:t>Please put IBM Bob output screenshots with 2-3 prompts. </a:t>
            </a:r>
          </a:p>
          <a:p>
            <a:r>
              <a:rPr lang="en-US" sz="2000" dirty="0">
                <a:solidFill>
                  <a:srgbClr val="FF0000"/>
                </a:solidFill>
              </a:rPr>
              <a:t>You can take 2-3 more slides for each screenshot</a:t>
            </a:r>
            <a:endParaRPr lang="en-IN" sz="2000" dirty="0">
              <a:solidFill>
                <a:srgbClr val="FF0000"/>
              </a:solidFill>
            </a:endParaRPr>
          </a:p>
        </p:txBody>
      </p:sp>
      <p:pic>
        <p:nvPicPr>
          <p:cNvPr id="8" name="Picture 7"/>
          <p:cNvPicPr/>
          <p:nvPr/>
        </p:nvPicPr>
        <p:blipFill>
          <a:blip r:embed="rId3"/>
          <a:stretch>
            <a:fillRect/>
          </a:stretch>
        </p:blipFill>
        <p:spPr>
          <a:xfrm>
            <a:off x="935440" y="914400"/>
            <a:ext cx="10088160" cy="5467985"/>
          </a:xfrm>
          <a:prstGeom prst="rect">
            <a:avLst/>
          </a:prstGeom>
        </p:spPr>
      </p:pic>
    </p:spTree>
    <p:extLst>
      <p:ext uri="{BB962C8B-B14F-4D97-AF65-F5344CB8AC3E}">
        <p14:creationId xmlns:p14="http://schemas.microsoft.com/office/powerpoint/2010/main" val="26019071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a:t>Novelty and Uniqueness</a:t>
            </a:r>
            <a:endParaRPr lang="en-IN" sz="2400" b="1"/>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4185761"/>
          </a:xfrm>
          <a:prstGeom prst="rect">
            <a:avLst/>
          </a:prstGeom>
          <a:noFill/>
        </p:spPr>
        <p:txBody>
          <a:bodyPr wrap="square" rtlCol="0">
            <a:spAutoFit/>
          </a:bodyPr>
          <a:lstStyle/>
          <a:p>
            <a:r>
              <a:rPr lang="en-IN" sz="1800" dirty="0"/>
              <a:t>The proposed </a:t>
            </a:r>
            <a:r>
              <a:rPr lang="en-IN" sz="1800" dirty="0" smtClean="0"/>
              <a:t>Idea Forge</a:t>
            </a:r>
            <a:r>
              <a:rPr lang="en-IN" sz="1800" dirty="0" smtClean="0"/>
              <a:t> </a:t>
            </a:r>
            <a:r>
              <a:rPr lang="en-IN" sz="1800" dirty="0"/>
              <a:t>stands out by combining </a:t>
            </a:r>
            <a:r>
              <a:rPr lang="en-IN" sz="1800" b="1" dirty="0"/>
              <a:t>Agentic AI, RAG, and personalization</a:t>
            </a:r>
            <a:r>
              <a:rPr lang="en-IN" sz="1800" dirty="0"/>
              <a:t> into a single intelligent system.</a:t>
            </a:r>
          </a:p>
          <a:p>
            <a:endParaRPr lang="en-IN" sz="1800" dirty="0"/>
          </a:p>
          <a:p>
            <a:r>
              <a:rPr lang="en-IN" sz="1800" b="1" dirty="0"/>
              <a:t>Multi-Agent Intelligence</a:t>
            </a:r>
            <a:r>
              <a:rPr lang="en-IN" sz="1800" dirty="0"/>
              <a:t> – Instead of a single </a:t>
            </a:r>
            <a:r>
              <a:rPr lang="en-IN" sz="1800" dirty="0" err="1"/>
              <a:t>chatbot</a:t>
            </a:r>
            <a:r>
              <a:rPr lang="en-IN" sz="1800" dirty="0"/>
              <a:t>, multiple specialized agents collaborate to deliver accurate and context-aware </a:t>
            </a:r>
            <a:r>
              <a:rPr lang="en-IN" sz="1800" dirty="0" smtClean="0"/>
              <a:t>idea</a:t>
            </a:r>
            <a:r>
              <a:rPr lang="en-IN" sz="1800" dirty="0" smtClean="0"/>
              <a:t> </a:t>
            </a:r>
            <a:r>
              <a:rPr lang="en-IN" sz="1800" dirty="0"/>
              <a:t>guidance. </a:t>
            </a:r>
          </a:p>
          <a:p>
            <a:r>
              <a:rPr lang="en-IN" sz="1800" b="1" dirty="0"/>
              <a:t>RAG-Based Accuracy</a:t>
            </a:r>
            <a:r>
              <a:rPr lang="en-IN" sz="1800" dirty="0"/>
              <a:t> – Integrates real-time data retrieval with AI generation, reducing misinformation and ensuring trustworthy recommendations. </a:t>
            </a:r>
          </a:p>
          <a:p>
            <a:r>
              <a:rPr lang="en-IN" sz="1800" b="1" dirty="0" smtClean="0"/>
              <a:t>Real-Time </a:t>
            </a:r>
            <a:r>
              <a:rPr lang="en-IN" sz="1800" b="1" dirty="0"/>
              <a:t>Feedback Loop</a:t>
            </a:r>
            <a:r>
              <a:rPr lang="en-IN" sz="1800" dirty="0"/>
              <a:t> – Continuously adapts recommendations based on </a:t>
            </a:r>
            <a:r>
              <a:rPr lang="en-IN" sz="1800" dirty="0" smtClean="0"/>
              <a:t>user</a:t>
            </a:r>
          </a:p>
          <a:p>
            <a:r>
              <a:rPr lang="en-IN" sz="1800" b="1" dirty="0" smtClean="0"/>
              <a:t>Multi-Modal </a:t>
            </a:r>
            <a:r>
              <a:rPr lang="en-IN" sz="1800" b="1" dirty="0"/>
              <a:t>Input</a:t>
            </a:r>
            <a:r>
              <a:rPr lang="en-IN" sz="1800" dirty="0"/>
              <a:t> – Supports text, voice, and image-based meal tracking for better usability. </a:t>
            </a:r>
          </a:p>
          <a:p>
            <a:r>
              <a:rPr lang="en-IN" sz="1800" b="1" dirty="0" smtClean="0"/>
              <a:t>Scalable </a:t>
            </a:r>
            <a:r>
              <a:rPr lang="en-IN" sz="1800" b="1" dirty="0"/>
              <a:t>&amp; Enterprise-Ready</a:t>
            </a:r>
            <a:r>
              <a:rPr lang="en-IN" sz="1800" dirty="0"/>
              <a:t> – Built on </a:t>
            </a:r>
            <a:r>
              <a:rPr lang="en-IN" sz="1800" b="1" dirty="0"/>
              <a:t>IBM watsonx.ai</a:t>
            </a:r>
            <a:r>
              <a:rPr lang="en-IN" sz="1800" dirty="0"/>
              <a:t> with </a:t>
            </a:r>
            <a:r>
              <a:rPr lang="en-IN" sz="1800" b="1" dirty="0"/>
              <a:t>IBM Granite models</a:t>
            </a:r>
            <a:r>
              <a:rPr lang="en-IN" sz="1800" dirty="0"/>
              <a:t>, ensuring reliability and governance. </a:t>
            </a:r>
          </a:p>
          <a:p>
            <a:endParaRPr lang="en-IN" sz="1800" dirty="0"/>
          </a:p>
          <a:p>
            <a:r>
              <a:rPr lang="en-IN" sz="1800" dirty="0"/>
              <a:t>This makes the solution a </a:t>
            </a:r>
            <a:r>
              <a:rPr lang="en-IN" sz="1800" b="1" dirty="0"/>
              <a:t>smart, adaptive, and </a:t>
            </a:r>
            <a:r>
              <a:rPr lang="en-IN" sz="1800" b="1" dirty="0" smtClean="0"/>
              <a:t>proactive idea generator</a:t>
            </a:r>
            <a:r>
              <a:rPr lang="en-IN" sz="1800" dirty="0" smtClean="0"/>
              <a:t>, </a:t>
            </a:r>
            <a:r>
              <a:rPr lang="en-IN" sz="1800" dirty="0"/>
              <a:t>not just a static </a:t>
            </a:r>
            <a:r>
              <a:rPr lang="en-IN" sz="1800" dirty="0" smtClean="0"/>
              <a:t>AI </a:t>
            </a:r>
            <a:r>
              <a:rPr lang="en-IN" sz="1800" dirty="0" smtClean="0"/>
              <a:t>recommendation </a:t>
            </a:r>
            <a:r>
              <a:rPr lang="en-IN" sz="1800" dirty="0"/>
              <a:t>tool.</a:t>
            </a:r>
            <a:endParaRPr lang="en-US" dirty="0"/>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err="1" smtClean="0">
                <a:solidFill>
                  <a:srgbClr val="2B3541"/>
                </a:solidFill>
                <a:latin typeface="Times New Roman"/>
                <a:ea typeface="Times New Roman"/>
                <a:cs typeface="Times New Roman"/>
                <a:sym typeface="Times New Roman"/>
              </a:rPr>
              <a:t>Github</a:t>
            </a:r>
            <a:r>
              <a:rPr lang="en-US" sz="1850" dirty="0" smtClean="0">
                <a:solidFill>
                  <a:srgbClr val="2B3541"/>
                </a:solidFill>
                <a:latin typeface="Times New Roman"/>
                <a:ea typeface="Times New Roman"/>
                <a:cs typeface="Times New Roman"/>
                <a:sym typeface="Times New Roman"/>
              </a:rPr>
              <a:t> </a:t>
            </a:r>
            <a:r>
              <a:rPr lang="en-US" sz="1850" dirty="0">
                <a:solidFill>
                  <a:srgbClr val="2B3541"/>
                </a:solidFill>
                <a:latin typeface="Times New Roman"/>
                <a:ea typeface="Times New Roman"/>
                <a:cs typeface="Times New Roman"/>
                <a:sym typeface="Times New Roman"/>
              </a:rPr>
              <a:t>URL </a:t>
            </a:r>
            <a:r>
              <a:rPr lang="en-US" sz="1850" dirty="0">
                <a:solidFill>
                  <a:srgbClr val="2B3541"/>
                </a:solidFill>
                <a:latin typeface="Times New Roman"/>
                <a:ea typeface="Times New Roman"/>
                <a:cs typeface="Times New Roman"/>
                <a:sym typeface="Times New Roman"/>
              </a:rPr>
              <a:t>– https://github.com/lovely-03/Idea-Forge-AI</a:t>
            </a:r>
            <a:endParaRPr lang="en-US" sz="1850" dirty="0">
              <a:solidFill>
                <a:srgbClr val="2B3541"/>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003300" y="517698"/>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endParaRPr sz="1850" b="0" i="0" u="none" strike="noStrike" cap="none" dirty="0">
              <a:solidFill>
                <a:srgbClr val="000000"/>
              </a:solidFill>
              <a:latin typeface="Times New Roman"/>
              <a:ea typeface="Times New Roman"/>
              <a:cs typeface="Times New Roman"/>
              <a:sym typeface="Times New Roman"/>
            </a:endParaRPr>
          </a:p>
        </p:txBody>
      </p:sp>
      <p:sp>
        <p:nvSpPr>
          <p:cNvPr id="5" name="Rectangle 3"/>
          <p:cNvSpPr>
            <a:spLocks noChangeArrowheads="1"/>
          </p:cNvSpPr>
          <p:nvPr/>
        </p:nvSpPr>
        <p:spPr bwMode="auto">
          <a:xfrm>
            <a:off x="546100" y="1517875"/>
            <a:ext cx="11252200"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Integrate </a:t>
            </a:r>
            <a:r>
              <a:rPr kumimoji="0" lang="en-US" altLang="en-US" sz="1800" b="1" i="0" u="none" strike="noStrike" cap="none" normalizeH="0" baseline="0" dirty="0" smtClean="0">
                <a:ln>
                  <a:noFill/>
                </a:ln>
                <a:solidFill>
                  <a:schemeClr val="tx1"/>
                </a:solidFill>
                <a:effectLst/>
                <a:latin typeface="Arial" panose="020B0604020202020204" pitchFamily="34" charset="0"/>
              </a:rPr>
              <a:t>real-time market trends, startup funding, and competitor analysis</a:t>
            </a:r>
            <a:r>
              <a:rPr kumimoji="0" lang="en-US" altLang="en-US" sz="1800" b="0" i="0" u="none" strike="noStrike" cap="none" normalizeH="0" baseline="0" dirty="0" smtClean="0">
                <a:ln>
                  <a:noFill/>
                </a:ln>
                <a:solidFill>
                  <a:schemeClr val="tx1"/>
                </a:solidFill>
                <a:effectLst/>
                <a:latin typeface="Arial" panose="020B0604020202020204" pitchFamily="34" charset="0"/>
              </a:rPr>
              <a:t> for more accurate business recommendations.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Support </a:t>
            </a:r>
            <a:r>
              <a:rPr kumimoji="0" lang="en-US" altLang="en-US" sz="1800" b="1" i="0" u="none" strike="noStrike" cap="none" normalizeH="0" baseline="0" dirty="0" smtClean="0">
                <a:ln>
                  <a:noFill/>
                </a:ln>
                <a:solidFill>
                  <a:schemeClr val="tx1"/>
                </a:solidFill>
                <a:effectLst/>
                <a:latin typeface="Arial" panose="020B0604020202020204" pitchFamily="34" charset="0"/>
              </a:rPr>
              <a:t>multiple languages</a:t>
            </a:r>
            <a:r>
              <a:rPr kumimoji="0" lang="en-US" altLang="en-US" sz="1800" b="0" i="0" u="none" strike="noStrike" cap="none" normalizeH="0" baseline="0" dirty="0" smtClean="0">
                <a:ln>
                  <a:noFill/>
                </a:ln>
                <a:solidFill>
                  <a:schemeClr val="tx1"/>
                </a:solidFill>
                <a:effectLst/>
                <a:latin typeface="Arial" panose="020B0604020202020204" pitchFamily="34" charset="0"/>
              </a:rPr>
              <a:t> to make the platform accessible to global users.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Provide </a:t>
            </a:r>
            <a:r>
              <a:rPr kumimoji="0" lang="en-US" altLang="en-US" sz="1800" b="1" i="0" u="none" strike="noStrike" cap="none" normalizeH="0" baseline="0" dirty="0" smtClean="0">
                <a:ln>
                  <a:noFill/>
                </a:ln>
                <a:solidFill>
                  <a:schemeClr val="tx1"/>
                </a:solidFill>
                <a:effectLst/>
                <a:latin typeface="Arial" panose="020B0604020202020204" pitchFamily="34" charset="0"/>
              </a:rPr>
              <a:t>AI-generated business plans, financial projections, and pitch decks</a:t>
            </a:r>
            <a:r>
              <a:rPr kumimoji="0" lang="en-US" altLang="en-US" sz="1800" b="0" i="0" u="none" strike="noStrike" cap="none" normalizeH="0" baseline="0" dirty="0" smtClean="0">
                <a:ln>
                  <a:noFill/>
                </a:ln>
                <a:solidFill>
                  <a:schemeClr val="tx1"/>
                </a:solidFill>
                <a:effectLst/>
                <a:latin typeface="Arial" panose="020B0604020202020204" pitchFamily="34" charset="0"/>
              </a:rPr>
              <a:t> for investors.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Enable </a:t>
            </a:r>
            <a:r>
              <a:rPr kumimoji="0" lang="en-US" altLang="en-US" sz="1800" b="1" i="0" u="none" strike="noStrike" cap="none" normalizeH="0" baseline="0" dirty="0" smtClean="0">
                <a:ln>
                  <a:noFill/>
                </a:ln>
                <a:solidFill>
                  <a:schemeClr val="tx1"/>
                </a:solidFill>
                <a:effectLst/>
                <a:latin typeface="Arial" panose="020B0604020202020204" pitchFamily="34" charset="0"/>
              </a:rPr>
              <a:t>team collaboration</a:t>
            </a:r>
            <a:r>
              <a:rPr kumimoji="0" lang="en-US" altLang="en-US" sz="1800" b="0" i="0" u="none" strike="noStrike" cap="none" normalizeH="0" baseline="0" dirty="0" smtClean="0">
                <a:ln>
                  <a:noFill/>
                </a:ln>
                <a:solidFill>
                  <a:schemeClr val="tx1"/>
                </a:solidFill>
                <a:effectLst/>
                <a:latin typeface="Arial" panose="020B0604020202020204" pitchFamily="34" charset="0"/>
              </a:rPr>
              <a:t> for brainstorming and idea refinement.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Integrate with </a:t>
            </a:r>
            <a:r>
              <a:rPr kumimoji="0" lang="en-US" altLang="en-US" sz="1800" b="1" i="0" u="none" strike="noStrike" cap="none" normalizeH="0" baseline="0" dirty="0" smtClean="0">
                <a:ln>
                  <a:noFill/>
                </a:ln>
                <a:solidFill>
                  <a:schemeClr val="tx1"/>
                </a:solidFill>
                <a:effectLst/>
                <a:latin typeface="Arial" panose="020B0604020202020204" pitchFamily="34" charset="0"/>
              </a:rPr>
              <a:t>cloud platforms and business tools</a:t>
            </a:r>
            <a:r>
              <a:rPr kumimoji="0" lang="en-US" altLang="en-US" sz="1800" b="0" i="0" u="none" strike="noStrike" cap="none" normalizeH="0" baseline="0" dirty="0" smtClean="0">
                <a:ln>
                  <a:noFill/>
                </a:ln>
                <a:solidFill>
                  <a:schemeClr val="tx1"/>
                </a:solidFill>
                <a:effectLst/>
                <a:latin typeface="Arial" panose="020B0604020202020204" pitchFamily="34" charset="0"/>
              </a:rPr>
              <a:t> (e.g., CRM, project management, analytics) for end-to-end startup planning.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Continuously improve recommendations using </a:t>
            </a:r>
            <a:r>
              <a:rPr kumimoji="0" lang="en-US" altLang="en-US" sz="1800" b="1" i="0" u="none" strike="noStrike" cap="none" normalizeH="0" baseline="0" dirty="0" smtClean="0">
                <a:ln>
                  <a:noFill/>
                </a:ln>
                <a:solidFill>
                  <a:schemeClr val="tx1"/>
                </a:solidFill>
                <a:effectLst/>
                <a:latin typeface="Arial" panose="020B0604020202020204" pitchFamily="34" charset="0"/>
              </a:rPr>
              <a:t>user feedback and machine learning</a:t>
            </a:r>
            <a:r>
              <a:rPr kumimoji="0" lang="en-US" altLang="en-US" sz="1800" b="0" i="0" u="none" strike="noStrike" cap="none" normalizeH="0" baseline="0" dirty="0" smtClean="0">
                <a:ln>
                  <a:noFill/>
                </a:ln>
                <a:solidFill>
                  <a:schemeClr val="tx1"/>
                </a:solidFill>
                <a:effectLst/>
                <a:latin typeface="Arial" panose="020B0604020202020204" pitchFamily="34" charset="0"/>
              </a:rPr>
              <a:t> to deliver more personalized and successful business ideas. </a:t>
            </a:r>
          </a:p>
        </p:txBody>
      </p:sp>
    </p:spTree>
    <p:extLst>
      <p:ext uri="{BB962C8B-B14F-4D97-AF65-F5344CB8AC3E}">
        <p14:creationId xmlns:p14="http://schemas.microsoft.com/office/powerpoint/2010/main" val="21367067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90882" y="12953"/>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dirty="0"/>
              <a:t>Certificates Earned:</a:t>
            </a:r>
          </a:p>
          <a:p>
            <a:pPr algn="ctr"/>
            <a:endParaRPr lang="en-US" dirty="0"/>
          </a:p>
        </p:txBody>
      </p:sp>
      <p:pic>
        <p:nvPicPr>
          <p:cNvPr id="2" name="Picture 1"/>
          <p:cNvPicPr>
            <a:picLocks noChangeAspect="1"/>
          </p:cNvPicPr>
          <p:nvPr/>
        </p:nvPicPr>
        <p:blipFill>
          <a:blip r:embed="rId2"/>
          <a:stretch>
            <a:fillRect/>
          </a:stretch>
        </p:blipFill>
        <p:spPr>
          <a:xfrm>
            <a:off x="2084387" y="690061"/>
            <a:ext cx="7667625" cy="5781675"/>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2" name="Picture 1"/>
          <p:cNvPicPr>
            <a:picLocks noChangeAspect="1"/>
          </p:cNvPicPr>
          <p:nvPr/>
        </p:nvPicPr>
        <p:blipFill>
          <a:blip r:embed="rId2"/>
          <a:stretch>
            <a:fillRect/>
          </a:stretch>
        </p:blipFill>
        <p:spPr>
          <a:xfrm>
            <a:off x="2703996" y="564945"/>
            <a:ext cx="5551004" cy="6358842"/>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523</TotalTime>
  <Words>1102</Words>
  <Application>Microsoft Office PowerPoint</Application>
  <PresentationFormat>Widescreen</PresentationFormat>
  <Paragraphs>115</Paragraphs>
  <Slides>20</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dell</cp:lastModifiedBy>
  <cp:revision>27</cp:revision>
  <dcterms:created xsi:type="dcterms:W3CDTF">2025-07-08T05:06:56Z</dcterms:created>
  <dcterms:modified xsi:type="dcterms:W3CDTF">2026-07-22T17:15:56Z</dcterms:modified>
</cp:coreProperties>
</file>